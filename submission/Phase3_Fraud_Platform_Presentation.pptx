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IBM CAPSTONE • TEAM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6B5C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C"/>
                </a:solidFill>
                <a:latin typeface="Aptos"/>
              </a:rPr>
              <a:t>Real-Time Financial Fraud
Detection &amp; Curtailment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6B5CF"/>
                </a:solidFill>
                <a:latin typeface="Aptos"/>
              </a:rPr>
              <a:t>A three-track fintech control center for scoring, investigation, and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143000"/>
            <a:ext cx="2468880" cy="347472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1508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2D3EE"/>
                </a:solidFill>
                <a:latin typeface="Aptos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965960"/>
            <a:ext cx="18288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4F7FC"/>
                </a:solidFill>
                <a:latin typeface="Aptos"/>
              </a:rPr>
              <a:t>DS
+
BI
+
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0644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Aptos"/>
              </a:rPr>
              <a:t>Fintech / banking fraud prevention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PHASE 3 CORNERSTONE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6B5C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4F7FC"/>
                </a:solidFill>
                <a:latin typeface="Aptos"/>
              </a:rPr>
              <a:t>The operational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B5CF"/>
                </a:solidFill>
                <a:latin typeface="Aptos"/>
              </a:rPr>
              <a:t>Fraud response must be fast, contextual, and auditable.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2971800" cy="237744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514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4F7FC"/>
                </a:solidFill>
                <a:latin typeface="Aptos"/>
              </a:rPr>
              <a:t>Detect anomalous velocity, geography, spend, IP, and device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2971800" cy="237744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5146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Aptos"/>
              </a:rPr>
              <a:t>INVESTIGATE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971800"/>
            <a:ext cx="2514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4F7FC"/>
                </a:solidFill>
                <a:latin typeface="Aptos"/>
              </a:rPr>
              <a:t>Connect a flagged transaction to KYC/SAR-style case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194560"/>
            <a:ext cx="2971800" cy="237744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5146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Aptos"/>
              </a:rP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971800"/>
            <a:ext cx="2514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4F7FC"/>
                </a:solidFill>
                <a:latin typeface="Aptos"/>
              </a:rPr>
              <a:t>Apply a policy decision, dispatch mitigations, and preserve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PHASE 3 CORNERSTONE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6B5C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4F7FC"/>
                </a:solidFill>
                <a:latin typeface="Aptos"/>
              </a:rPr>
              <a:t>Sector and audience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B5CF"/>
                </a:solidFill>
                <a:latin typeface="Aptos"/>
              </a:rPr>
              <a:t>A focused build for internal fraud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5212080" cy="320040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SECTOR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4F7FC"/>
                </a:solidFill>
                <a:latin typeface="Aptos"/>
              </a:rPr>
              <a:t>Fintech / banking fraud prevention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4231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tos"/>
              </a:rPr>
              <a:t>Audience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8346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Internal risk and case investigation</a:t>
            </a:r>
          </a:p>
          <a:p>
            <a:pPr>
              <a:spcAft>
                <a:spcPts val="12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Automated transaction protection</a:t>
            </a:r>
          </a:p>
          <a:p>
            <a:pPr>
              <a:spcAft>
                <a:spcPts val="12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Human-in-the-loop override and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PHASE 3 CORNERSTONE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6B5CF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4F7FC"/>
                </a:solidFill>
                <a:latin typeface="Aptos"/>
              </a:rPr>
              <a:t>End-to-end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B5CF"/>
                </a:solidFill>
                <a:latin typeface="Aptos"/>
              </a:rPr>
              <a:t>One reviewer-friendly URL, three cooperating tracks.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965960" cy="205740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Transaction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5CF"/>
                </a:solidFill>
                <a:latin typeface="Aptos"/>
              </a:rPr>
              <a:t>Raw payment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0632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240280"/>
            <a:ext cx="1965960" cy="205740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5146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9718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Data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52044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5CF"/>
                </a:solidFill>
                <a:latin typeface="Aptos"/>
              </a:rPr>
              <a:t>Probability + flag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0632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240280"/>
            <a:ext cx="1965960" cy="205740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5146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9718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52044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5CF"/>
                </a:solidFill>
                <a:latin typeface="Aptos"/>
              </a:rPr>
              <a:t>Cases +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632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240280"/>
            <a:ext cx="1965960" cy="205740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25146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9718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52044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5CF"/>
                </a:solidFill>
                <a:latin typeface="Aptos"/>
              </a:rPr>
              <a:t>Decision + dispatch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0632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2240280"/>
            <a:ext cx="1965960" cy="205740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25146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9718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52044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5CF"/>
                </a:solidFill>
                <a:latin typeface="Aptos"/>
              </a:rPr>
              <a:t>Evidence + override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PHASE 3 CORNERSTONE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6B5C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4F7FC"/>
                </a:solidFill>
                <a:latin typeface="Aptos"/>
              </a:rPr>
              <a:t>Data Science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B5CF"/>
                </a:solidFill>
                <a:latin typeface="Aptos"/>
              </a:rPr>
              <a:t>Real-time feature engineering turns a stateless payload into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754880" cy="356616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POST /predict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Haversine distance and physical velocity</a:t>
            </a:r>
          </a:p>
          <a:p>
            <a:pPr>
              <a:spcAft>
                <a:spcPts val="12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Rolling 1-hour / 24-hour activity</a:t>
            </a:r>
          </a:p>
          <a:p>
            <a:pPr>
              <a:spcAft>
                <a:spcPts val="12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Spend ratio and country change</a:t>
            </a:r>
          </a:p>
          <a:p>
            <a:pPr>
              <a:spcAft>
                <a:spcPts val="12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Shared IP and device clustering</a:t>
            </a:r>
          </a:p>
          <a:p>
            <a:pPr>
              <a:spcAft>
                <a:spcPts val="12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HistGradientBoostingClassifier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965960"/>
            <a:ext cx="5074920" cy="3566160"/>
          </a:xfrm>
          <a:prstGeom prst="roundRect">
            <a:avLst/>
          </a:prstGeom>
          <a:solidFill>
            <a:srgbClr val="182748"/>
          </a:solidFill>
          <a:ln>
            <a:solidFill>
              <a:srgbClr val="18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331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tos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834640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F7FC"/>
                </a:solidFill>
                <a:latin typeface="Aptos"/>
              </a:rPr>
              <a:t>fraud_probability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20440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F7FC"/>
                </a:solidFill>
                <a:latin typeface="Aptos"/>
              </a:rPr>
              <a:t>flagged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2519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Aptos"/>
              </a:rPr>
              <a:t>Threshold: ≥ 90%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PHASE 3 CORNERSTONE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6B5CF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4F7FC"/>
                </a:solidFill>
                <a:latin typeface="Aptos"/>
              </a:rPr>
              <a:t>Business Intelligence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B5CF"/>
                </a:solidFill>
                <a:latin typeface="Aptos"/>
              </a:rPr>
              <a:t>A flag becomes an investigation, not just a number.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0561320" cy="338328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Aptos"/>
              </a:rPr>
              <a:t>POST /investigate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Aptos"/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204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7FC"/>
                </a:solidFill>
                <a:latin typeface="Aptos"/>
              </a:rPr>
              <a:t>Customer/device keyed case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461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6B5CF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063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Aptos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5204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7FC"/>
                </a:solidFill>
                <a:latin typeface="Aptos"/>
              </a:rPr>
              <a:t>Distress vs mule-ring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2461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6B5CF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063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Aptos"/>
              </a:rPr>
              <a:t>ENRICH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5204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7FC"/>
                </a:solidFill>
                <a:latin typeface="Aptos"/>
              </a:rPr>
              <a:t>Matched case evidence for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5CF"/>
                </a:solidFill>
                <a:latin typeface="Aptos"/>
              </a:rPr>
              <a:t>Sample cases: CUST1042 and CUST2077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PHASE 3 CORNERSTONE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6B5CF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4F7FC"/>
                </a:solidFill>
                <a:latin typeface="Aptos"/>
              </a:rPr>
              <a:t>Product decision and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B5CF"/>
                </a:solidFill>
                <a:latin typeface="Aptos"/>
              </a:rPr>
              <a:t>Translate risk into a business action with an audit trail.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4572000" cy="548640"/>
          </a:xfrm>
          <a:prstGeom prst="roundRect">
            <a:avLst/>
          </a:prstGeom>
          <a:solidFill>
            <a:srgbClr val="14213C"/>
          </a:solidFill>
          <a:ln>
            <a:solidFill>
              <a:srgbClr val="142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48256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6B5CF"/>
                </a:solidFill>
                <a:latin typeface="Aptos"/>
              </a:rPr>
              <a:t>&lt; 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048256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AUTO_APPROVE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02996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48256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C"/>
                </a:solidFill>
                <a:latin typeface="Aptos"/>
              </a:rPr>
              <a:t>Settlement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70048"/>
            <a:ext cx="4572000" cy="548640"/>
          </a:xfrm>
          <a:prstGeom prst="roundRect">
            <a:avLst/>
          </a:prstGeom>
          <a:solidFill>
            <a:srgbClr val="14213C"/>
          </a:solidFill>
          <a:ln>
            <a:solidFill>
              <a:srgbClr val="142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98064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6B5CF"/>
                </a:solidFill>
                <a:latin typeface="Aptos"/>
              </a:rPr>
              <a:t>70–90%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798064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Aptos"/>
              </a:rPr>
              <a:t>STEP_UP_MFA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77977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98064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C"/>
                </a:solidFill>
                <a:latin typeface="Aptos"/>
              </a:rPr>
              <a:t>Biometric / OTP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419856"/>
            <a:ext cx="4572000" cy="548640"/>
          </a:xfrm>
          <a:prstGeom prst="roundRect">
            <a:avLst/>
          </a:prstGeom>
          <a:solidFill>
            <a:srgbClr val="14213C"/>
          </a:solidFill>
          <a:ln>
            <a:solidFill>
              <a:srgbClr val="142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54787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6B5CF"/>
                </a:solidFill>
                <a:latin typeface="Aptos"/>
              </a:rPr>
              <a:t>≥ 90% + distress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54787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  <a:latin typeface="Aptos"/>
              </a:rPr>
              <a:t>BLOCK_TRANSACTION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52958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87171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547872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C"/>
                </a:solidFill>
                <a:latin typeface="Aptos"/>
              </a:rPr>
              <a:t>Gateway decline + 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69664"/>
            <a:ext cx="4572000" cy="548640"/>
          </a:xfrm>
          <a:prstGeom prst="roundRect">
            <a:avLst/>
          </a:prstGeom>
          <a:solidFill>
            <a:srgbClr val="14213C"/>
          </a:solidFill>
          <a:ln>
            <a:solidFill>
              <a:srgbClr val="142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29768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6B5CF"/>
                </a:solidFill>
                <a:latin typeface="Aptos"/>
              </a:rPr>
              <a:t>≥ 90% + mule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29768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366F1"/>
                </a:solidFill>
                <a:latin typeface="Aptos"/>
              </a:rPr>
              <a:t>FREEZE_ACCOUNT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2793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366F1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297680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C"/>
                </a:solidFill>
                <a:latin typeface="Aptos"/>
              </a:rPr>
              <a:t>Core banking freeze + SAR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166360"/>
            <a:ext cx="9784080" cy="502920"/>
          </a:xfrm>
          <a:prstGeom prst="roundRect">
            <a:avLst/>
          </a:prstGeom>
          <a:solidFill>
            <a:srgbClr val="182748"/>
          </a:solidFill>
          <a:ln>
            <a:solidFill>
              <a:srgbClr val="18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303520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C"/>
                </a:solidFill>
                <a:latin typeface="Aptos"/>
              </a:rPr>
              <a:t>Every event is persisted; investigators can override with notes.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PHASE 3 CORNERSTONE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6B5CF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4F7FC"/>
                </a:solidFill>
                <a:latin typeface="Aptos"/>
              </a:rPr>
              <a:t>Live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B5CF"/>
                </a:solidFill>
                <a:latin typeface="Aptos"/>
              </a:rPr>
              <a:t>Normal payment → suspicious case → investigator override.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3154680" cy="256032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Aptos"/>
              </a:rPr>
              <a:t>1. Approve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7FC"/>
                </a:solidFill>
                <a:latin typeface="Aptos"/>
              </a:rPr>
              <a:t>POST /curtail
Low-risk transaction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57400"/>
            <a:ext cx="3154680" cy="256032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4688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  <a:latin typeface="Aptos"/>
              </a:rPr>
              <a:t>2. Investigate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15468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7FC"/>
                </a:solidFill>
                <a:latin typeface="Aptos"/>
              </a:rPr>
              <a:t>Open dashboard
Review score +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057400"/>
            <a:ext cx="3154680" cy="256032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4688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Aptos"/>
              </a:rPr>
              <a:t>3. Override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5468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7FC"/>
                </a:solidFill>
                <a:latin typeface="Aptos"/>
              </a:rPr>
              <a:t>POST /override
Write audit note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PHASE 3 CORNERSTONE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6B5CF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4F7FC"/>
                </a:solidFill>
                <a:latin typeface="Aptos"/>
              </a:rPr>
              <a:t>Deployment and IBM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B5CF"/>
                </a:solidFill>
                <a:latin typeface="Aptos"/>
              </a:rPr>
              <a:t>OpenShift-ready with a Watson Orchestrate skill contract.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4892040" cy="338328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TECHZONE / OPENSHIFT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Containerized single-port gateway</a:t>
            </a:r>
          </a:p>
          <a:p>
            <a:pPr>
              <a:spcAft>
                <a:spcPts val="12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Route + readiness/liveness probes</a:t>
            </a:r>
          </a:p>
          <a:p>
            <a:pPr>
              <a:spcAft>
                <a:spcPts val="12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Live control hub, dashboard, Swagger</a:t>
            </a:r>
          </a:p>
          <a:p>
            <a:pPr>
              <a:spcAft>
                <a:spcPts val="12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Health endpoint for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965960"/>
            <a:ext cx="4892040" cy="338328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3317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tos"/>
              </a:rPr>
              <a:t>WATSON ORCHESTRATE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9260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4F7FC"/>
                </a:solidFill>
                <a:latin typeface="Aptos"/>
              </a:rPr>
              <a:t>OpenAPI 3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70332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GET /orchestrate-skill.json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343400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B5CF"/>
                </a:solidFill>
                <a:latin typeface="Aptos"/>
              </a:rPr>
              <a:t>Catalog-ready contract for the action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PHASE 3 CORNERSTONE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6B5C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4F7FC"/>
                </a:solidFill>
                <a:latin typeface="Aptos"/>
              </a:rPr>
              <a:t>Results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B5CF"/>
                </a:solidFill>
                <a:latin typeface="Aptos"/>
              </a:rPr>
              <a:t>A working foundation for controlled fraud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4663440" cy="347472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tos"/>
              </a:rPr>
              <a:t>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Unified gateway suite passed</a:t>
            </a:r>
          </a:p>
          <a:p>
            <a:pPr>
              <a:spcAft>
                <a:spcPts val="12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All 8 integration checks passed</a:t>
            </a:r>
          </a:p>
          <a:p>
            <a:pPr>
              <a:spcAft>
                <a:spcPts val="12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Live TechZone control hub responding</a:t>
            </a:r>
          </a:p>
          <a:p>
            <a:pPr>
              <a:spcAft>
                <a:spcPts val="12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Submission pack mapped to rubric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965960"/>
            <a:ext cx="5074920" cy="3474720"/>
          </a:xfrm>
          <a:prstGeom prst="roundRect">
            <a:avLst/>
          </a:prstGeom>
          <a:solidFill>
            <a:srgbClr val="111D35"/>
          </a:solidFill>
          <a:ln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331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88920"/>
            <a:ext cx="4206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Register the skill in Watson Orchestrate</a:t>
            </a:r>
          </a:p>
          <a:p>
            <a:pPr>
              <a:spcAft>
                <a:spcPts val="12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Connect approved banking webhooks</a:t>
            </a:r>
          </a:p>
          <a:p>
            <a:pPr>
              <a:spcAft>
                <a:spcPts val="12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Add role-based access control</a:t>
            </a:r>
          </a:p>
          <a:p>
            <a:pPr>
              <a:spcAft>
                <a:spcPts val="12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Move audit storage to managed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9788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5CF"/>
                </a:solidFill>
                <a:latin typeface="Aptos"/>
              </a:rPr>
              <a:t>Live demo: fraud-platform-team8-fraud.apps.itz-i8rikv.infra01-lb.tok04.techzone.ibm.com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